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717158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07652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58A6FF"/>
                </a:solidFill>
                <a:latin typeface="Fira Code"/>
              </a:rPr>
              <a:t>LOCALE</a:t>
            </a:r>
          </a:p>
          <a:p>
            <a:pPr algn="ctr">
              <a:spcAft>
                <a:spcPts val="600"/>
              </a:spcAft>
            </a:pPr>
            <a:r>
              <a:rPr sz="3800" b="1">
                <a:solidFill>
                  <a:srgbClr val="58A6FF"/>
                </a:solidFill>
                <a:latin typeface="Fira Code"/>
              </a:rPr>
              <a:t>Ego-Graph Orientation for LLM-Assisted Causal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107652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C9D1D9"/>
                </a:solidFill>
                <a:latin typeface="Inter"/>
              </a:rPr>
              <a:t>### Aaron Feng · DSC 190 · Prof. Biwei Huang</a:t>
            </a:r>
          </a:p>
          <a:p>
            <a:pPr algn="ctr">
              <a:spcAft>
                <a:spcPts val="800"/>
              </a:spcAft>
            </a:pPr>
            <a:r>
              <a:rPr sz="1800">
                <a:solidFill>
                  <a:srgbClr val="C9D1D9"/>
                </a:solidFill>
                <a:latin typeface="Inter"/>
              </a:rPr>
              <a:t>From course presentation to research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1434317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Recap: The Landscape We Presented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Three paradigms for LLM-assisted causal discovery: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79888"/>
          <a:ext cx="10765228" cy="1280160"/>
        </p:xfrm>
        <a:graphic>
          <a:graphicData uri="http://schemas.openxmlformats.org/drawingml/2006/table">
            <a:tbl>
              <a:tblPr bandRow="0" bandCol="0" firstRow="0"/>
              <a:tblGrid>
                <a:gridCol w="2691307"/>
                <a:gridCol w="2691307"/>
                <a:gridCol w="2691307"/>
                <a:gridCol w="2691307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Paradigm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Example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Context/Query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Queries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Per-edge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MosaCD, chatPC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~200 tokens (one edge)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O(E × K)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Ego-graph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2A8FF"/>
                          </a:solidFill>
                          <a:latin typeface="Inter"/>
                        </a:rPr>
                        <a:t>LOCALE (ours)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~500-1000 tokens (neighborhood)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O(N × K)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Whole-graph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CausalFusion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O(V²) tokens (full DAG)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O(rounds)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2832048"/>
            <a:ext cx="107652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MosaCD: shuffled queries + non-collider-first propagation. Best F1 in 9/10 benchmarks.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But each query uses the LLM as a </a:t>
            </a:r>
            <a:r>
              <a:rPr sz="1600" b="1">
                <a:solidFill>
                  <a:srgbClr val="7EE787"/>
                </a:solidFill>
                <a:latin typeface="Inter"/>
              </a:rPr>
              <a:t>binary classifier</a:t>
            </a:r>
            <a:r>
              <a:rPr sz="1600">
                <a:solidFill>
                  <a:srgbClr val="C9D1D9"/>
                </a:solidFill>
                <a:latin typeface="Inter"/>
              </a:rPr>
              <a:t>. 128K context window. ~200 tokens used.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2151475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The Gap We Identified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Per-edge</a:t>
            </a:r>
            <a:r>
              <a:rPr sz="1600">
                <a:solidFill>
                  <a:srgbClr val="C9D1D9"/>
                </a:solidFill>
                <a:latin typeface="Inter"/>
              </a:rPr>
              <a:t> (MosaCD): one query = one binary vote. No local consistency. CI constraints checked </a:t>
            </a:r>
            <a:r>
              <a:rPr sz="1600">
                <a:solidFill>
                  <a:srgbClr val="D2A8FF"/>
                </a:solidFill>
                <a:latin typeface="Inter"/>
              </a:rPr>
              <a:t>after</a:t>
            </a:r>
            <a:r>
              <a:rPr sz="1600">
                <a:solidFill>
                  <a:srgbClr val="C9D1D9"/>
                </a:solidFill>
                <a:latin typeface="Inter"/>
              </a:rPr>
              <a:t> the LLM, not </a:t>
            </a:r>
            <a:r>
              <a:rPr sz="1600">
                <a:solidFill>
                  <a:srgbClr val="D2A8FF"/>
                </a:solidFill>
                <a:latin typeface="Inter"/>
              </a:rPr>
              <a:t>during</a:t>
            </a:r>
            <a:r>
              <a:rPr sz="1600">
                <a:solidFill>
                  <a:srgbClr val="C9D1D9"/>
                </a:solidFill>
                <a:latin typeface="Inter"/>
              </a:rPr>
              <a:t>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Whole-graph</a:t>
            </a:r>
            <a:r>
              <a:rPr sz="1600">
                <a:solidFill>
                  <a:srgbClr val="C9D1D9"/>
                </a:solidFill>
                <a:latin typeface="Inter"/>
              </a:rPr>
              <a:t> (CausalFusion): entire DAG in context. O(V²) tokens. LLM does what Meek rules already do perfectly.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The missing middle</a:t>
            </a:r>
            <a:r>
              <a:rPr sz="1600">
                <a:solidFill>
                  <a:srgbClr val="C9D1D9"/>
                </a:solidFill>
                <a:latin typeface="Inter"/>
              </a:rPr>
              <a:t>: show the LLM one node's neighborhood. It scores all incident edges </a:t>
            </a:r>
            <a:r>
              <a:rPr sz="1600" b="1">
                <a:solidFill>
                  <a:srgbClr val="7EE787"/>
                </a:solidFill>
                <a:latin typeface="Inter"/>
              </a:rPr>
              <a:t>jointly</a:t>
            </a:r>
            <a:r>
              <a:rPr sz="1600">
                <a:solidFill>
                  <a:srgbClr val="C9D1D9"/>
                </a:solidFill>
                <a:latin typeface="Inter"/>
              </a:rPr>
              <a:t>, sees CI constraints, reasons about local mechanism consistency.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58A6FF"/>
                </a:solidFill>
                <a:latin typeface="Fira Code"/>
              </a:rPr>
              <a:t>│ </a:t>
            </a:r>
            <a:r>
              <a:rPr sz="1600">
                <a:solidFill>
                  <a:srgbClr val="8B949E"/>
                </a:solidFill>
                <a:latin typeface="Inter"/>
              </a:rPr>
              <a:t>The LLM's comparative advantage is contextual reasoning about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58A6FF"/>
                </a:solidFill>
                <a:latin typeface="Fira Code"/>
              </a:rPr>
              <a:t>│ </a:t>
            </a:r>
            <a:r>
              <a:rPr sz="1600">
                <a:solidFill>
                  <a:srgbClr val="8B949E"/>
                </a:solidFill>
                <a:latin typeface="Inter"/>
              </a:rPr>
              <a:t>local causal mechanisms — not binary edge classification,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58A6FF"/>
                </a:solidFill>
                <a:latin typeface="Fira Code"/>
              </a:rPr>
              <a:t>│ </a:t>
            </a:r>
            <a:r>
              <a:rPr sz="1600">
                <a:solidFill>
                  <a:srgbClr val="8B949E"/>
                </a:solidFill>
                <a:latin typeface="Inter"/>
              </a:rPr>
              <a:t>not global graph editing.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2868634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LOCALE: Iterative BFS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Survey Propagation-style decimation: </a:t>
            </a:r>
            <a:r>
              <a:rPr sz="1600" b="1">
                <a:solidFill>
                  <a:srgbClr val="7EE787"/>
                </a:solidFill>
                <a:latin typeface="Inter"/>
              </a:rPr>
              <a:t>compute marginals → fix most confident → simplify → repeat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Round 1</a:t>
            </a:r>
            <a:r>
              <a:rPr sz="1600">
                <a:solidFill>
                  <a:srgbClr val="C9D1D9"/>
                </a:solidFill>
                <a:latin typeface="Inter"/>
              </a:rPr>
              <a:t>: Query all eligible nodes with ego-graph prompts. Solve Max-2SAT per node (NCO constraints + LLM soft scores). </a:t>
            </a:r>
            <a:r>
              <a:rPr sz="1600" b="1">
                <a:solidFill>
                  <a:srgbClr val="7EE787"/>
                </a:solidFill>
                <a:latin typeface="Inter"/>
              </a:rPr>
              <a:t>Decimate</a:t>
            </a:r>
            <a:r>
              <a:rPr sz="1600">
                <a:solidFill>
                  <a:srgbClr val="C9D1D9"/>
                </a:solidFill>
                <a:latin typeface="Inter"/>
              </a:rPr>
              <a:t>: commit edges where majority vote &gt; 70%.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Round 2+</a:t>
            </a:r>
            <a:r>
              <a:rPr sz="1600">
                <a:solidFill>
                  <a:srgbClr val="C9D1D9"/>
                </a:solidFill>
                <a:latin typeface="Inter"/>
              </a:rPr>
              <a:t>: Query </a:t>
            </a:r>
            <a:r>
              <a:rPr sz="1600" b="1">
                <a:solidFill>
                  <a:srgbClr val="7EE787"/>
                </a:solidFill>
                <a:latin typeface="Inter"/>
              </a:rPr>
              <a:t>frontier nodes</a:t>
            </a:r>
            <a:r>
              <a:rPr sz="1600">
                <a:solidFill>
                  <a:srgbClr val="C9D1D9"/>
                </a:solidFill>
                <a:latin typeface="Inter"/>
              </a:rPr>
              <a:t> — those adjacent to established edges but not yet queried. Prompts now include established orientations as context. Max-2SAT adds established edges as </a:t>
            </a:r>
            <a:r>
              <a:rPr sz="1600" b="1">
                <a:solidFill>
                  <a:srgbClr val="7EE787"/>
                </a:solidFill>
                <a:latin typeface="Inter"/>
              </a:rPr>
              <a:t>hard unary constraints</a:t>
            </a:r>
            <a:r>
              <a:rPr sz="1600">
                <a:solidFill>
                  <a:srgbClr val="C9D1D9"/>
                </a:solidFill>
                <a:latin typeface="Inter"/>
              </a:rPr>
              <a:t>. Decimate new high-confidence edges. Repeat.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Convergence</a:t>
            </a:r>
            <a:r>
              <a:rPr sz="1600">
                <a:solidFill>
                  <a:srgbClr val="C9D1D9"/>
                </a:solidFill>
                <a:latin typeface="Inter"/>
              </a:rPr>
              <a:t>: stop when no new edges are decimated, or all edges resolved.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577168"/>
          <a:ext cx="10765230" cy="1920240"/>
        </p:xfrm>
        <a:graphic>
          <a:graphicData uri="http://schemas.openxmlformats.org/drawingml/2006/table">
            <a:tbl>
              <a:tblPr bandRow="0" bandCol="0" firstRow="0"/>
              <a:tblGrid>
                <a:gridCol w="5382615"/>
                <a:gridCol w="5382615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SP Concept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LOCALE Mapping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Variables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Edge orientations x_e ∈ {+1, -1}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Factors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Ego-graph queries f_v(x_{e1},...,x_{ed})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Warnings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LLM vote distributions per edge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Decimation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Commit edges with majority &gt; threshold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Simplify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Feed established edges as context into next round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3585792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The Ego-Graph Prompt (Round 2+)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CENTER NODE: DrivQuality — "Quality of driving"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NEIGHBORS (3 variables):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1. DrivingSkill — "Driver's overall skill level"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2. RiskAversion — "Risk tolerance"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3. Accident — "Accident severity"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ESTABLISHED ORIENTATIONS (from prior rounds):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ESTABLISHED (round 1, conf=90%): DrivingSkill -&gt; DrivQuality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STATISTICAL CONSTRAINTS: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R1. DrivingSkill ⊥ Accident | {DrivQuality} — non-collider.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    DrivingSkill and Accident must NOT both point into DrivQuality.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EDGES TO ORIENT: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- DrivingSkill -&gt; DrivQuality  [ESTABLISHED — do not change]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- DrivQuality -- RiskAversion: orient this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7EE787"/>
                </a:solidFill>
                <a:latin typeface="Fira Code"/>
              </a:rPr>
              <a:t>  - DrivQuality -- Accident: orient this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Round 1</a:t>
            </a:r>
            <a:r>
              <a:rPr sz="1600">
                <a:solidFill>
                  <a:srgbClr val="C9D1D9"/>
                </a:solidFill>
                <a:latin typeface="Inter"/>
              </a:rPr>
              <a:t>: one query → 4 edges. </a:t>
            </a:r>
            <a:r>
              <a:rPr sz="1600" b="1">
                <a:solidFill>
                  <a:srgbClr val="7EE787"/>
                </a:solidFill>
                <a:latin typeface="Inter"/>
              </a:rPr>
              <a:t>Round 2</a:t>
            </a:r>
            <a:r>
              <a:rPr sz="1600">
                <a:solidFill>
                  <a:srgbClr val="C9D1D9"/>
                </a:solidFill>
                <a:latin typeface="Inter"/>
              </a:rPr>
              <a:t>: context-enriched → 2 remaining edges. Established orientations propagate as facts, not suggestions.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4302951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Finding 1: Ego Needs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Ego-graph prompting requires sufficient model capacity. Same edges, same skeleton, same CI evidence — only model size changes.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79888"/>
          <a:ext cx="10765228" cy="1280160"/>
        </p:xfrm>
        <a:graphic>
          <a:graphicData uri="http://schemas.openxmlformats.org/drawingml/2006/table">
            <a:tbl>
              <a:tblPr bandRow="0" bandCol="0" firstRow="0"/>
              <a:tblGrid>
                <a:gridCol w="2691307"/>
                <a:gridCol w="2691307"/>
                <a:gridCol w="2691307"/>
                <a:gridCol w="2691307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Per-Edge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Ego-Graph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Delta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Qwen3.5-</a:t>
                      </a:r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4B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90.5%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47.4%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-43.2pp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Qwen3.5-</a:t>
                      </a:r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9B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90.5%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80.0%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-10.5pp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Qwen3.5-</a:t>
                      </a:r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27B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93.7%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94.7%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+1.1pp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2832048"/>
            <a:ext cx="107652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Joint neighborhood reasoning is a harder task than binary classification. Small models fail catastrophically. At </a:t>
            </a:r>
            <a:r>
              <a:rPr sz="1600" b="1">
                <a:solidFill>
                  <a:srgbClr val="7EE787"/>
                </a:solidFill>
                <a:latin typeface="Inter"/>
              </a:rPr>
              <a:t>27B</a:t>
            </a:r>
            <a:r>
              <a:rPr sz="1600">
                <a:solidFill>
                  <a:srgbClr val="C9D1D9"/>
                </a:solidFill>
                <a:latin typeface="Inter"/>
              </a:rPr>
              <a:t>, ego matches or wins.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Insurance network, disguised variable names, K=5 votes. XN-001/002/003.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5020109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Finding 2: Skeleton Is the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Decomposing directed-edge F1: </a:t>
            </a:r>
            <a:r>
              <a:rPr sz="1600" b="1">
                <a:solidFill>
                  <a:srgbClr val="7EE787"/>
                </a:solidFill>
                <a:latin typeface="Inter"/>
              </a:rPr>
              <a:t>skeleton coverage × orientation accuracy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79888"/>
          <a:ext cx="10765230" cy="1920240"/>
        </p:xfrm>
        <a:graphic>
          <a:graphicData uri="http://schemas.openxmlformats.org/drawingml/2006/table">
            <a:tbl>
              <a:tblPr bandRow="0" bandCol="0" firstRow="0"/>
              <a:tblGrid>
                <a:gridCol w="2153046"/>
                <a:gridCol w="2153046"/>
                <a:gridCol w="2153046"/>
                <a:gridCol w="2153046"/>
                <a:gridCol w="2153046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Network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Skeleton Coverage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Orientation Acc.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Directed F1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MosaCD F1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Insurance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88.4%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Asia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93.3%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Alarm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89.9%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89.9%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Child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88.0%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88.0%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Hepar2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52%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80.6%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58.8%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72%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472128"/>
            <a:ext cx="107652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On edges the skeleton gets right, orientation is </a:t>
            </a:r>
            <a:r>
              <a:rPr sz="1600" b="1">
                <a:solidFill>
                  <a:srgbClr val="7EE787"/>
                </a:solidFill>
                <a:latin typeface="Inter"/>
              </a:rPr>
              <a:t>at ceiling</a:t>
            </a:r>
            <a:r>
              <a:rPr sz="1600">
                <a:solidFill>
                  <a:srgbClr val="C9D1D9"/>
                </a:solidFill>
                <a:latin typeface="Inter"/>
              </a:rPr>
              <a:t>. The F1 gap vs MosaCD is skeleton coverage, not orientation quality.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Hepar2: 52% skeleton coverage. No orientation method can fix that.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5737268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Finding 3: The NCO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Phase 2 (hard CI constraints) </a:t>
            </a:r>
            <a:r>
              <a:rPr sz="1600" b="1">
                <a:solidFill>
                  <a:srgbClr val="7EE787"/>
                </a:solidFill>
                <a:latin typeface="Inter"/>
              </a:rPr>
              <a:t>hurt</a:t>
            </a:r>
            <a:r>
              <a:rPr sz="1600">
                <a:solidFill>
                  <a:srgbClr val="C9D1D9"/>
                </a:solidFill>
                <a:latin typeface="Inter"/>
              </a:rPr>
              <a:t> on 3/6 networks. Why?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100% of incorrect CI-derived orientation facts are false colliders.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754208"/>
          <a:ext cx="10765230" cy="2240280"/>
        </p:xfrm>
        <a:graphic>
          <a:graphicData uri="http://schemas.openxmlformats.org/drawingml/2006/table">
            <a:tbl>
              <a:tblPr bandRow="0" bandCol="0" firstRow="0"/>
              <a:tblGrid>
                <a:gridCol w="2153046"/>
                <a:gridCol w="2153046"/>
                <a:gridCol w="2153046"/>
                <a:gridCol w="2153046"/>
                <a:gridCol w="2153046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Network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CI Accuracy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False Colliders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False Non-Colliders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P2 Impact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Insurance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92.4%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+4.2pp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Alarm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90.4%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+1.3pp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Child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78.9%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+6.2pp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Sachs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95.5%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-5.9pp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Asia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90.0%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-16.7pp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Hepar2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65.1%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52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-9.9pp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406648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Non-collider = positive evidence (Z IS in sep set). Always reliable. Collider = absence of evidence (Z NOT FOUND). Fails with finite samples.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6454426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NCO: The Fix and Its Generality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Fix</a:t>
            </a:r>
            <a:r>
              <a:rPr sz="1600">
                <a:solidFill>
                  <a:srgbClr val="C9D1D9"/>
                </a:solidFill>
                <a:latin typeface="Inter"/>
              </a:rPr>
              <a:t>: use only non-collider constraints. 100% reliable.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79888"/>
          <a:ext cx="10765228" cy="2240280"/>
        </p:xfrm>
        <a:graphic>
          <a:graphicData uri="http://schemas.openxmlformats.org/drawingml/2006/table">
            <a:tbl>
              <a:tblPr bandRow="0" bandCol="0" firstRow="0"/>
              <a:tblGrid>
                <a:gridCol w="2691307"/>
                <a:gridCol w="2691307"/>
                <a:gridCol w="2691307"/>
                <a:gridCol w="2691307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Network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Ego Only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+ Hard Constraints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+ NCO Only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Insurance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93.1%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97.2%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98.6%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Alarm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88.3%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89.6%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89.6%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Sachs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70.6%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64.7%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70.6%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Asia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83.3%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Hepar2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75.7%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65.8%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79.3%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Aggregate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83.7%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81.1%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86.7%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792168"/>
            <a:ext cx="107652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NCO never hurts. Hard constraints hurt 3/6 networks.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This is </a:t>
            </a:r>
            <a:r>
              <a:rPr sz="1600" b="1">
                <a:solidFill>
                  <a:srgbClr val="7EE787"/>
                </a:solidFill>
                <a:latin typeface="Inter"/>
              </a:rPr>
              <a:t>method-agnostic</a:t>
            </a:r>
            <a:r>
              <a:rPr sz="1600">
                <a:solidFill>
                  <a:srgbClr val="C9D1D9"/>
                </a:solidFill>
                <a:latin typeface="Inter"/>
              </a:rPr>
              <a:t>: applies to MosaCD, PC, any CI-based method. Validated at n=1k through n=10k. 100% false-collider rate at n ≥ 5000.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7171585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Finding 4: Head-to-Head vs MosaCD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LOCALE uses </a:t>
            </a:r>
            <a:r>
              <a:rPr sz="1600" b="1">
                <a:solidFill>
                  <a:srgbClr val="7EE787"/>
                </a:solidFill>
                <a:latin typeface="Inter"/>
              </a:rPr>
              <a:t>open-source Qwen3.5-27B</a:t>
            </a:r>
            <a:r>
              <a:rPr sz="1600">
                <a:solidFill>
                  <a:srgbClr val="C9D1D9"/>
                </a:solidFill>
                <a:latin typeface="Inter"/>
              </a:rPr>
              <a:t> (local inference). MosaCD uses </a:t>
            </a:r>
            <a:r>
              <a:rPr sz="1600" b="1">
                <a:solidFill>
                  <a:srgbClr val="7EE787"/>
                </a:solidFill>
                <a:latin typeface="Inter"/>
              </a:rPr>
              <a:t>proprietary GPT-4o-mini</a:t>
            </a:r>
            <a:r>
              <a:rPr sz="1600">
                <a:solidFill>
                  <a:srgbClr val="C9D1D9"/>
                </a:solidFill>
                <a:latin typeface="Inter"/>
              </a:rPr>
              <a:t> (API calls).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79888"/>
          <a:ext cx="10765228" cy="1920240"/>
        </p:xfrm>
        <a:graphic>
          <a:graphicData uri="http://schemas.openxmlformats.org/drawingml/2006/table">
            <a:tbl>
              <a:tblPr bandRow="0" bandCol="0" firstRow="0"/>
              <a:tblGrid>
                <a:gridCol w="2691307"/>
                <a:gridCol w="2691307"/>
                <a:gridCol w="2691307"/>
                <a:gridCol w="2691307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Network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LOCALE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MosaCD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Winner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Insurance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88.4%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LOCALE (+1.4pp)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Alarm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89.9%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MosaCD (-3.1pp)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Child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88.0%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90%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MosaCD (-2.0pp)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Asia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93.3%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93%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LOCALE (+0.3pp)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Hepar2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58.8%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72%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MosaCD (-13.2pp)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47212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Score: 2 wins, 3 losses.</a:t>
            </a:r>
            <a:r>
              <a:rPr sz="1600">
                <a:solidFill>
                  <a:srgbClr val="C9D1D9"/>
                </a:solidFill>
                <a:latin typeface="Inter"/>
              </a:rPr>
              <a:t> Competitive, not dominant. But: open-source model, local inference, </a:t>
            </a:r>
            <a:r>
              <a:rPr sz="1600" b="1">
                <a:solidFill>
                  <a:srgbClr val="7EE787"/>
                </a:solidFill>
                <a:latin typeface="Inter"/>
              </a:rPr>
              <a:t>2.4-4x fewer queries</a:t>
            </a:r>
            <a:r>
              <a:rPr sz="1600">
                <a:solidFill>
                  <a:srgbClr val="C9D1D9"/>
                </a:solidFill>
                <a:latin typeface="Inter"/>
              </a:rPr>
              <a:t>. Hepar2 gap is skeleton coverage (52%), not orientation.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7888743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Finding 5: Query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Ego-graph batching: one query scores </a:t>
            </a:r>
            <a:r>
              <a:rPr sz="1600" b="1">
                <a:solidFill>
                  <a:srgbClr val="7EE787"/>
                </a:solidFill>
                <a:latin typeface="Inter"/>
              </a:rPr>
              <a:t>all</a:t>
            </a:r>
            <a:r>
              <a:rPr sz="1600">
                <a:solidFill>
                  <a:srgbClr val="C9D1D9"/>
                </a:solidFill>
                <a:latin typeface="Inter"/>
              </a:rPr>
              <a:t> incident edges.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Per-edge: one query per edge × K votes = O(E × K) queries Ego-graph: one query per node × K votes = O(N × K) queries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Across 6 networks: </a:t>
            </a:r>
            <a:r>
              <a:rPr sz="1600" b="1">
                <a:solidFill>
                  <a:srgbClr val="7EE787"/>
                </a:solidFill>
                <a:latin typeface="Inter"/>
              </a:rPr>
              <a:t>2.4-4.0x fewer queries</a:t>
            </a:r>
            <a:r>
              <a:rPr sz="1600">
                <a:solidFill>
                  <a:srgbClr val="C9D1D9"/>
                </a:solidFill>
                <a:latin typeface="Inter"/>
              </a:rPr>
              <a:t> (58-75% savings)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Cost scales with </a:t>
            </a:r>
            <a:r>
              <a:rPr sz="1600" b="1">
                <a:solidFill>
                  <a:srgbClr val="7EE787"/>
                </a:solidFill>
                <a:latin typeface="Inter"/>
              </a:rPr>
              <a:t>nodes</a:t>
            </a:r>
            <a:r>
              <a:rPr sz="1600">
                <a:solidFill>
                  <a:srgbClr val="C9D1D9"/>
                </a:solidFill>
                <a:latin typeface="Inter"/>
              </a:rPr>
              <a:t>, not edges. As graphs get denser, the savings grow.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At 27B, each ego query costs more tokens but produces </a:t>
            </a:r>
            <a:r>
              <a:rPr sz="1600" b="1">
                <a:solidFill>
                  <a:srgbClr val="7EE787"/>
                </a:solidFill>
                <a:latin typeface="Inter"/>
              </a:rPr>
              <a:t>d edges of information</a:t>
            </a:r>
            <a:r>
              <a:rPr sz="1600">
                <a:solidFill>
                  <a:srgbClr val="C9D1D9"/>
                </a:solidFill>
                <a:latin typeface="Inter"/>
              </a:rPr>
              <a:t> instead of 1. Net result: competitive accuracy at a fraction of the cost.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Sachs (11 nodes, 17 edges): 2.4x. Insurance (27 nodes, 52 edges): 3.8x.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8605902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Ablation: What Each Phase Contributes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Full pipeline: </a:t>
            </a:r>
            <a:r>
              <a:rPr sz="1600" b="1">
                <a:solidFill>
                  <a:srgbClr val="7EE787"/>
                </a:solidFill>
                <a:latin typeface="Inter"/>
              </a:rPr>
              <a:t>+6.6pp</a:t>
            </a:r>
            <a:r>
              <a:rPr sz="1600">
                <a:solidFill>
                  <a:srgbClr val="C9D1D9"/>
                </a:solidFill>
                <a:latin typeface="Inter"/>
              </a:rPr>
              <a:t> over per-edge baseline (85.6% → 92.2%)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79888"/>
          <a:ext cx="10765228" cy="1920240"/>
        </p:xfrm>
        <a:graphic>
          <a:graphicData uri="http://schemas.openxmlformats.org/drawingml/2006/table">
            <a:tbl>
              <a:tblPr bandRow="0" bandCol="0" firstRow="0"/>
              <a:tblGrid>
                <a:gridCol w="2691307"/>
                <a:gridCol w="2691307"/>
                <a:gridCol w="2691307"/>
                <a:gridCol w="2691307"/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Phase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What It Does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Cumulative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8A6FF"/>
                          </a:solidFill>
                          <a:latin typeface="Inter"/>
                        </a:rPr>
                        <a:t>Delta</a:t>
                      </a:r>
                    </a:p>
                  </a:txBody>
                  <a:tcPr marL="72000" marR="72000" marT="36000" marB="36000">
                    <a:solidFill>
                      <a:srgbClr val="161B22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1270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PE baseline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Per-edge LLM votes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85.6%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 P1 Ego scoring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Joint neighborhood context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87.0%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+1.4pp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 P2 NCO constraints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CI-feasible assignments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88.8%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+1.9pp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 P3 Reconciliation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Dual-endpoint agreement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89.7%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+0.8pp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+ P4 Safety valve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8B949E"/>
                          </a:solidFill>
                          <a:latin typeface="Inter"/>
                        </a:rPr>
                        <a:t>Damage detection + revert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92.2%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EE787"/>
                          </a:solidFill>
                          <a:latin typeface="Inter"/>
                        </a:rPr>
                        <a:t>+2.5pp</a:t>
                      </a:r>
                    </a:p>
                  </a:txBody>
                  <a:tcPr marL="72000" marR="72000" marT="36000" marB="36000">
                    <a:solidFill>
                      <a:srgbClr val="0D1117"/>
                    </a:solidFill>
                    <a:lnL w="6350">
                      <a:solidFill>
                        <a:srgbClr val="30363D"/>
                      </a:solidFill>
                    </a:lnL>
                    <a:lnR w="6350">
                      <a:solidFill>
                        <a:srgbClr val="30363D"/>
                      </a:solidFill>
                    </a:lnR>
                    <a:lnT w="6350">
                      <a:solidFill>
                        <a:srgbClr val="30363D"/>
                      </a:solidFill>
                    </a:lnT>
                    <a:lnB w="6350">
                      <a:solidFill>
                        <a:srgbClr val="30363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3472128"/>
            <a:ext cx="1076523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Safety valve is the largest single contributor.</a:t>
            </a:r>
            <a:r>
              <a:rPr sz="1600">
                <a:solidFill>
                  <a:srgbClr val="C9D1D9"/>
                </a:solidFill>
                <a:latin typeface="Inter"/>
              </a:rPr>
              <a:t> Not cleanup — core design. Detects when constraints hurt and reverts.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4 networks, 215 edges, orientation accuracy on skeleton edges. XN-012.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9323060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What Didn't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Dawid-Skene reconciliation</a:t>
            </a:r>
            <a:r>
              <a:rPr sz="1600">
                <a:solidFill>
                  <a:srgbClr val="C9D1D9"/>
                </a:solidFill>
                <a:latin typeface="Inter"/>
              </a:rPr>
              <a:t> (proposed) Underperforms majority vote. Only 2 annotators per edge — too sparse for EM.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Meek propagation</a:t>
            </a:r>
            <a:r>
              <a:rPr sz="1600">
                <a:solidFill>
                  <a:srgbClr val="C9D1D9"/>
                </a:solidFill>
                <a:latin typeface="Inter"/>
              </a:rPr>
              <a:t> (proposed) Complete no-op. Max-2SAT already orients everything. Nothing left for Meek.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Skeleton refinement via LLM</a:t>
            </a:r>
            <a:r>
              <a:rPr sz="1600">
                <a:solidFill>
                  <a:srgbClr val="C9D1D9"/>
                </a:solidFill>
                <a:latin typeface="Inter"/>
              </a:rPr>
              <a:t> 0 true positives across 6 networks. Most missing edges are &gt;2 hops apart. Hepar2 worst: 9 false positives, 0 true positives. Definitively vetoed.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Ego at degree 3</a:t>
            </a:r>
            <a:r>
              <a:rPr sz="1600">
                <a:solidFill>
                  <a:srgbClr val="C9D1D9"/>
                </a:solidFill>
                <a:latin typeface="Inter"/>
              </a:rPr>
              <a:t> ("valley of confusion") Too few CI constraints to guide, enough complexity to confuse. Per-edge wins at d=3. Ego wins at d≥4.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>
                <a:solidFill>
                  <a:srgbClr val="C9D1D9"/>
                </a:solidFill>
                <a:latin typeface="Inter"/>
              </a:rPr>
              <a:t>These negatives tell us </a:t>
            </a:r>
            <a:r>
              <a:rPr sz="1600" b="1">
                <a:solidFill>
                  <a:srgbClr val="7EE787"/>
                </a:solidFill>
                <a:latin typeface="Inter"/>
              </a:rPr>
              <a:t>where LLMs can't help</a:t>
            </a:r>
            <a:r>
              <a:rPr sz="1600">
                <a:solidFill>
                  <a:srgbClr val="C9D1D9"/>
                </a:solidFill>
                <a:latin typeface="Inter"/>
              </a:rPr>
              <a:t> in causal discovery.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10040219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What MosaCD Got Right, Where LOCALE Adds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MosaCD's insight confirmed</a:t>
            </a:r>
            <a:r>
              <a:rPr sz="1600">
                <a:solidFill>
                  <a:srgbClr val="C9D1D9"/>
                </a:solidFill>
                <a:latin typeface="Inter"/>
              </a:rPr>
              <a:t>: non-collider-first propagation works. Our NCO finding provides the </a:t>
            </a:r>
            <a:r>
              <a:rPr sz="1600" b="1">
                <a:solidFill>
                  <a:srgbClr val="7EE787"/>
                </a:solidFill>
                <a:latin typeface="Inter"/>
              </a:rPr>
              <a:t>theoretical grounding</a:t>
            </a:r>
            <a:r>
              <a:rPr sz="1600">
                <a:solidFill>
                  <a:srgbClr val="C9D1D9"/>
                </a:solidFill>
                <a:latin typeface="Inter"/>
              </a:rPr>
              <a:t> — it's not just empirically better. We now know </a:t>
            </a:r>
            <a:r>
              <a:rPr sz="1600">
                <a:solidFill>
                  <a:srgbClr val="D2A8FF"/>
                </a:solidFill>
                <a:latin typeface="Inter"/>
              </a:rPr>
              <a:t>why</a:t>
            </a:r>
            <a:r>
              <a:rPr sz="1600">
                <a:solidFill>
                  <a:srgbClr val="C9D1D9"/>
                </a:solidFill>
                <a:latin typeface="Inter"/>
              </a:rPr>
              <a:t>: 100% of CI errors are false colliders.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What LOCALE adds: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1. </a:t>
            </a:r>
            <a:r>
              <a:rPr sz="1600" b="1">
                <a:solidFill>
                  <a:srgbClr val="7EE787"/>
                </a:solidFill>
                <a:latin typeface="Inter"/>
              </a:rPr>
              <a:t>NCO as a general principle</a:t>
            </a:r>
            <a:r>
              <a:rPr sz="1600">
                <a:solidFill>
                  <a:srgbClr val="C9D1D9"/>
                </a:solidFill>
                <a:latin typeface="Inter"/>
              </a:rPr>
              <a:t> — method-agnostic, not MosaCD-specific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2. </a:t>
            </a:r>
            <a:r>
              <a:rPr sz="1600" b="1">
                <a:solidFill>
                  <a:srgbClr val="7EE787"/>
                </a:solidFill>
                <a:latin typeface="Inter"/>
              </a:rPr>
              <a:t>F1 decomposition</a:t>
            </a:r>
            <a:r>
              <a:rPr sz="1600">
                <a:solidFill>
                  <a:srgbClr val="C9D1D9"/>
                </a:solidFill>
                <a:latin typeface="Inter"/>
              </a:rPr>
              <a:t> — skeleton is the binding constraint (reframes the field)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3. </a:t>
            </a:r>
            <a:r>
              <a:rPr sz="1600" b="1">
                <a:solidFill>
                  <a:srgbClr val="7EE787"/>
                </a:solidFill>
                <a:latin typeface="Inter"/>
              </a:rPr>
              <a:t>Query efficiency</a:t>
            </a:r>
            <a:r>
              <a:rPr sz="1600">
                <a:solidFill>
                  <a:srgbClr val="C9D1D9"/>
                </a:solidFill>
                <a:latin typeface="Inter"/>
              </a:rPr>
              <a:t> — 2.4-4x savings via ego-graph batching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4. </a:t>
            </a:r>
            <a:r>
              <a:rPr sz="1600" b="1">
                <a:solidFill>
                  <a:srgbClr val="7EE787"/>
                </a:solidFill>
                <a:latin typeface="Inter"/>
              </a:rPr>
              <a:t>Open-source viability</a:t>
            </a:r>
            <a:r>
              <a:rPr sz="1600">
                <a:solidFill>
                  <a:srgbClr val="C9D1D9"/>
                </a:solidFill>
                <a:latin typeface="Inter"/>
              </a:rPr>
              <a:t> — 27B matches proprietary on most benchmarks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5. </a:t>
            </a:r>
            <a:r>
              <a:rPr sz="1600" b="1">
                <a:solidFill>
                  <a:srgbClr val="7EE787"/>
                </a:solidFill>
                <a:latin typeface="Inter"/>
              </a:rPr>
              <a:t>Safety valve</a:t>
            </a:r>
            <a:r>
              <a:rPr sz="1600">
                <a:solidFill>
                  <a:srgbClr val="C9D1D9"/>
                </a:solidFill>
                <a:latin typeface="Inter"/>
              </a:rPr>
              <a:t> — monotonically non-decreasing pipeline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Where both struggle</a:t>
            </a:r>
            <a:r>
              <a:rPr sz="1600">
                <a:solidFill>
                  <a:srgbClr val="C9D1D9"/>
                </a:solidFill>
                <a:latin typeface="Inter"/>
              </a:rPr>
              <a:t>: skeleton coverage. Neither can overcome a bad PC skeleton. That's the real frontier.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10757377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 b="1">
                <a:solidFill>
                  <a:srgbClr val="7EE787"/>
                </a:solidFill>
                <a:latin typeface="Inter"/>
              </a:rPr>
              <a:t>Causal sufficiency</a:t>
            </a:r>
            <a:r>
              <a:rPr sz="1600">
                <a:solidFill>
                  <a:srgbClr val="C9D1D9"/>
                </a:solidFill>
                <a:latin typeface="Inter"/>
              </a:rPr>
              <a:t> assumed — no latent confounders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 b="1">
                <a:solidFill>
                  <a:srgbClr val="7EE787"/>
                </a:solidFill>
                <a:latin typeface="Inter"/>
              </a:rPr>
              <a:t>Single model family</a:t>
            </a:r>
            <a:r>
              <a:rPr sz="1600">
                <a:solidFill>
                  <a:srgbClr val="C9D1D9"/>
                </a:solidFill>
                <a:latin typeface="Inter"/>
              </a:rPr>
              <a:t> — only Qwen3.5 tested (no GPT-4o, Claude, Llama)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 b="1">
                <a:solidFill>
                  <a:srgbClr val="7EE787"/>
                </a:solidFill>
                <a:latin typeface="Inter"/>
              </a:rPr>
              <a:t>PC skeleton ceiling</a:t>
            </a:r>
            <a:r>
              <a:rPr sz="1600">
                <a:solidFill>
                  <a:srgbClr val="C9D1D9"/>
                </a:solidFill>
                <a:latin typeface="Inter"/>
              </a:rPr>
              <a:t> — LOCALE cannot recover edges PC misses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 b="1">
                <a:solidFill>
                  <a:srgbClr val="7EE787"/>
                </a:solidFill>
                <a:latin typeface="Inter"/>
              </a:rPr>
              <a:t>n=1000</a:t>
            </a:r>
            <a:r>
              <a:rPr sz="1600">
                <a:solidFill>
                  <a:srgbClr val="C9D1D9"/>
                </a:solidFill>
                <a:latin typeface="Inter"/>
              </a:rPr>
              <a:t> for most experiments — CI tests degrade on large graphs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 b="1">
                <a:solidFill>
                  <a:srgbClr val="7EE787"/>
                </a:solidFill>
                <a:latin typeface="Inter"/>
              </a:rPr>
              <a:t>Calibration</a:t>
            </a:r>
            <a:r>
              <a:rPr sz="1600">
                <a:solidFill>
                  <a:srgbClr val="C9D1D9"/>
                </a:solidFill>
                <a:latin typeface="Inter"/>
              </a:rPr>
              <a:t> (Venn-Abers) not yet validated — needs held-out graph instances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 b="1">
                <a:solidFill>
                  <a:srgbClr val="7EE787"/>
                </a:solidFill>
                <a:latin typeface="Inter"/>
              </a:rPr>
              <a:t>Iterative expansion</a:t>
            </a:r>
            <a:r>
              <a:rPr sz="1600">
                <a:solidFill>
                  <a:srgbClr val="C9D1D9"/>
                </a:solidFill>
                <a:latin typeface="Inter"/>
              </a:rPr>
              <a:t> not yet tested — current implementation is single-pass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11474536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291072"/>
            <a:ext cx="1076523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EE787"/>
                </a:solidFill>
                <a:latin typeface="Fira Code"/>
              </a:rPr>
              <a:t>// </a:t>
            </a:r>
            <a:r>
              <a:rPr sz="1000">
                <a:solidFill>
                  <a:srgbClr val="8B949E"/>
                </a:solidFill>
                <a:latin typeface="Fira Code"/>
              </a:rPr>
              <a:t>LOCALE | DSC 190 | Prof. Biwei Huang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57200"/>
            <a:ext cx="1076523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7EE787"/>
                </a:solidFill>
                <a:latin typeface="Fira Code"/>
              </a:rPr>
              <a:t>## </a:t>
            </a:r>
            <a:r>
              <a:rPr sz="2800" b="1">
                <a:solidFill>
                  <a:srgbClr val="58A6FF"/>
                </a:solidFill>
                <a:latin typeface="Fira Code"/>
              </a:rPr>
              <a:t>Contributions and 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151568"/>
            <a:ext cx="10765231" cy="19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5568"/>
            <a:ext cx="10765231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Five contributions: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1. </a:t>
            </a:r>
            <a:r>
              <a:rPr sz="1600" b="1">
                <a:solidFill>
                  <a:srgbClr val="7EE787"/>
                </a:solidFill>
                <a:latin typeface="Inter"/>
              </a:rPr>
              <a:t>NCO discovery</a:t>
            </a:r>
            <a:r>
              <a:rPr sz="1600">
                <a:solidFill>
                  <a:srgbClr val="C9D1D9"/>
                </a:solidFill>
                <a:latin typeface="Inter"/>
              </a:rPr>
              <a:t>: ~100% of CI errors are false colliders </a:t>
            </a:r>
            <a:r>
              <a:rPr sz="1600">
                <a:solidFill>
                  <a:srgbClr val="D2A8FF"/>
                </a:solidFill>
                <a:latin typeface="Inter"/>
              </a:rPr>
              <a:t>(method-agnostic)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2. </a:t>
            </a:r>
            <a:r>
              <a:rPr sz="1600" b="1">
                <a:solidFill>
                  <a:srgbClr val="7EE787"/>
                </a:solidFill>
                <a:latin typeface="Inter"/>
              </a:rPr>
              <a:t>F1 decomposition</a:t>
            </a:r>
            <a:r>
              <a:rPr sz="1600">
                <a:solidFill>
                  <a:srgbClr val="C9D1D9"/>
                </a:solidFill>
                <a:latin typeface="Inter"/>
              </a:rPr>
              <a:t>: skeleton, not orientation, is the binding constraint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3. </a:t>
            </a:r>
            <a:r>
              <a:rPr sz="1600" b="1">
                <a:solidFill>
                  <a:srgbClr val="7EE787"/>
                </a:solidFill>
                <a:latin typeface="Inter"/>
              </a:rPr>
              <a:t>Ego-graph batching</a:t>
            </a:r>
            <a:r>
              <a:rPr sz="1600">
                <a:solidFill>
                  <a:srgbClr val="C9D1D9"/>
                </a:solidFill>
                <a:latin typeface="Inter"/>
              </a:rPr>
              <a:t>: 2.4-4x query savings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4. </a:t>
            </a:r>
            <a:r>
              <a:rPr sz="1600" b="1">
                <a:solidFill>
                  <a:srgbClr val="7EE787"/>
                </a:solidFill>
                <a:latin typeface="Inter"/>
              </a:rPr>
              <a:t>Open-source parity</a:t>
            </a:r>
            <a:r>
              <a:rPr sz="1600">
                <a:solidFill>
                  <a:srgbClr val="C9D1D9"/>
                </a:solidFill>
                <a:latin typeface="Inter"/>
              </a:rPr>
              <a:t>: 27B matches GPT-4o-mini on 4/5 shared benchmarks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5. </a:t>
            </a:r>
            <a:r>
              <a:rPr sz="1600" b="1">
                <a:solidFill>
                  <a:srgbClr val="7EE787"/>
                </a:solidFill>
                <a:latin typeface="Inter"/>
              </a:rPr>
              <a:t>Safety valve</a:t>
            </a:r>
            <a:r>
              <a:rPr sz="1600">
                <a:solidFill>
                  <a:srgbClr val="C9D1D9"/>
                </a:solidFill>
                <a:latin typeface="Inter"/>
              </a:rPr>
              <a:t>: monotonically non-decreasing pipeline design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7EE787"/>
                </a:solidFill>
                <a:latin typeface="Inter"/>
              </a:rPr>
              <a:t>What's next: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>
                <a:solidFill>
                  <a:srgbClr val="C9D1D9"/>
                </a:solidFill>
                <a:latin typeface="Inter"/>
              </a:rPr>
              <a:t>Iterative BFS expansion with established context (in progress)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>
                <a:solidFill>
                  <a:srgbClr val="C9D1D9"/>
                </a:solidFill>
                <a:latin typeface="Inter"/>
              </a:rPr>
              <a:t>Better skeletons: hybrid statistical-LLM skeleton learning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>
                <a:solidFill>
                  <a:srgbClr val="C9D1D9"/>
                </a:solidFill>
                <a:latin typeface="Inter"/>
              </a:rPr>
              <a:t>Cross-model validation: GPT-4o, Claude, Llama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>
                <a:solidFill>
                  <a:srgbClr val="C9D1D9"/>
                </a:solidFill>
                <a:latin typeface="Inter"/>
              </a:rPr>
              <a:t>Calibrated selective output (Venn-Abers edge confidence)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600">
                <a:solidFill>
                  <a:srgbClr val="7EE787"/>
                </a:solidFill>
                <a:latin typeface="Inter"/>
              </a:rPr>
              <a:t>•  </a:t>
            </a:r>
            <a:r>
              <a:rPr sz="1600">
                <a:solidFill>
                  <a:srgbClr val="C9D1D9"/>
                </a:solidFill>
                <a:latin typeface="Inter"/>
              </a:rPr>
              <a:t>NCO as preprocessing for all CI-based methods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8000"/>
            <a:ext cx="12191695" cy="30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737360"/>
            <a:ext cx="1076523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58A6FF"/>
                </a:solidFill>
                <a:latin typeface="Fira Code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10765231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>
                <a:solidFill>
                  <a:srgbClr val="C9D1D9"/>
                </a:solidFill>
                <a:latin typeface="Inter"/>
              </a:rPr>
              <a:t>### Questions?</a:t>
            </a:r>
          </a:p>
          <a:p>
            <a:pPr algn="ctr">
              <a:spcAft>
                <a:spcPts val="800"/>
              </a:spcAft>
            </a:pPr>
            <a:r>
              <a:rPr sz="1800">
                <a:solidFill>
                  <a:srgbClr val="C9D1D9"/>
                </a:solidFill>
                <a:latin typeface="Inter"/>
              </a:rPr>
              <a:t>Code and experiments: projects/locale/ · Qwen3.5-27B on RunPod vLLM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